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0" y="228600"/>
            <a:ext cx="3749039" cy="658368"/>
          </a:xfrm>
          <a:prstGeom prst="roundRect">
            <a:avLst/>
          </a:prstGeom>
          <a:solidFill>
            <a:srgbClr val="EAE6F2"/>
          </a:solidFill>
          <a:ln w="17780">
            <a:solidFill>
              <a:srgbClr val="6A51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A51A3"/>
                </a:solidFill>
              </a:rPr>
              <a:t>Source-material supplier</a:t>
            </a:r>
          </a:p>
          <a:p>
            <a:pPr algn="ctr"/>
            <a:r>
              <a:rPr sz="1000" i="1">
                <a:solidFill>
                  <a:srgbClr val="555555"/>
                </a:solidFill>
              </a:rPr>
              <a:t>reagent replenishment p_t^n (disruption-prone)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504D"/>
                </a:solidFill>
              </a:rPr>
              <a:t>patient arrivals d_t^n
(condition-driven 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182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504D"/>
                </a:solidFill>
              </a:rPr>
              <a:t>patient arrivals d_t^n
(condition-driven demand)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4617720" cy="4846320"/>
          </a:xfrm>
          <a:prstGeom prst="roundRect">
            <a:avLst/>
          </a:prstGeom>
          <a:solidFill>
            <a:srgbClr val="F4F7FB"/>
          </a:solidFill>
          <a:ln w="17780">
            <a:solidFill>
              <a:srgbClr val="3B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44168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5F8A"/>
                </a:solidFill>
              </a:rPr>
              <a:t>Clinic facility  n=1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" y="1920240"/>
            <a:ext cx="4105656" cy="868680"/>
          </a:xfrm>
          <a:prstGeom prst="roundRect">
            <a:avLst/>
          </a:prstGeom>
          <a:solidFill>
            <a:srgbClr val="FDE2E2"/>
          </a:solidFill>
          <a:ln w="17780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333333"/>
                </a:solidFill>
              </a:rPr>
              <a:t>Patient / specimen queue  ◆</a:t>
            </a:r>
          </a:p>
          <a:p>
            <a:pPr algn="ctr"/>
            <a:r>
              <a:rPr sz="850" i="1">
                <a:solidFill>
                  <a:srgbClr val="555555"/>
                </a:solidFill>
              </a:rPr>
              <a:t>survival S_j, eligible if S_j &gt;= epsilon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916936"/>
            <a:ext cx="4105656" cy="868680"/>
          </a:xfrm>
          <a:prstGeom prst="roundRect">
            <a:avLst/>
          </a:prstGeom>
          <a:solidFill>
            <a:srgbClr val="E3F0E1"/>
          </a:solidFill>
          <a:ln w="17780">
            <a:solidFill>
              <a:srgbClr val="4F8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333333"/>
                </a:solidFill>
              </a:rPr>
              <a:t>Reagent inventory  r_t^n</a:t>
            </a:r>
          </a:p>
          <a:p>
            <a:pPr algn="ctr"/>
            <a:r>
              <a:rPr sz="850" i="1">
                <a:solidFill>
                  <a:srgbClr val="555555"/>
                </a:solidFill>
              </a:rPr>
              <a:t>fungible consumable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3913631"/>
            <a:ext cx="4105656" cy="868680"/>
          </a:xfrm>
          <a:prstGeom prst="roundRect">
            <a:avLst/>
          </a:prstGeom>
          <a:solidFill>
            <a:srgbClr val="E3F0E1"/>
          </a:solidFill>
          <a:ln w="17780">
            <a:solidFill>
              <a:srgbClr val="4F8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333333"/>
                </a:solidFill>
              </a:rPr>
              <a:t>Bioreactor capacity  b_t^n</a:t>
            </a:r>
          </a:p>
          <a:p>
            <a:pPr algn="ctr"/>
            <a:r>
              <a:rPr sz="850" i="1">
                <a:solidFill>
                  <a:srgbClr val="555555"/>
                </a:solidFill>
              </a:rPr>
              <a:t>work-in-process, relocatable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4910327"/>
            <a:ext cx="4105656" cy="868680"/>
          </a:xfrm>
          <a:prstGeom prst="roundRect">
            <a:avLst/>
          </a:prstGeom>
          <a:solidFill>
            <a:srgbClr val="FDE6CF"/>
          </a:solidFill>
          <a:ln w="17780">
            <a:solidFill>
              <a:srgbClr val="C88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333333"/>
                </a:solidFill>
              </a:rPr>
              <a:t>Finished product  ◆</a:t>
            </a:r>
          </a:p>
          <a:p>
            <a:pPr algn="ctr"/>
            <a:r>
              <a:rPr sz="850" i="1">
                <a:solidFill>
                  <a:srgbClr val="555555"/>
                </a:solidFill>
              </a:rPr>
              <a:t>perishable, shelf life l_fin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1234440"/>
            <a:ext cx="4617720" cy="4846320"/>
          </a:xfrm>
          <a:prstGeom prst="roundRect">
            <a:avLst/>
          </a:prstGeom>
          <a:solidFill>
            <a:srgbClr val="F4F7FB"/>
          </a:solidFill>
          <a:ln w="17780">
            <a:solidFill>
              <a:srgbClr val="3B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33333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344168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5F8A"/>
                </a:solidFill>
              </a:rPr>
              <a:t>Clinic facility  n=2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42631" y="1920240"/>
            <a:ext cx="4105656" cy="868680"/>
          </a:xfrm>
          <a:prstGeom prst="roundRect">
            <a:avLst/>
          </a:prstGeom>
          <a:solidFill>
            <a:srgbClr val="FDE2E2"/>
          </a:solidFill>
          <a:ln w="17780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333333"/>
                </a:solidFill>
              </a:rPr>
              <a:t>Patient / specimen queue  ◆</a:t>
            </a:r>
          </a:p>
          <a:p>
            <a:pPr algn="ctr"/>
            <a:r>
              <a:rPr sz="850" i="1">
                <a:solidFill>
                  <a:srgbClr val="555555"/>
                </a:solidFill>
              </a:rPr>
              <a:t>survival S_j, eligible if S_j &gt;= epsilon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42631" y="2916936"/>
            <a:ext cx="4105656" cy="868680"/>
          </a:xfrm>
          <a:prstGeom prst="roundRect">
            <a:avLst/>
          </a:prstGeom>
          <a:solidFill>
            <a:srgbClr val="E3F0E1"/>
          </a:solidFill>
          <a:ln w="17780">
            <a:solidFill>
              <a:srgbClr val="4F8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333333"/>
                </a:solidFill>
              </a:rPr>
              <a:t>Reagent inventory  r_t^n</a:t>
            </a:r>
          </a:p>
          <a:p>
            <a:pPr algn="ctr"/>
            <a:r>
              <a:rPr sz="850" i="1">
                <a:solidFill>
                  <a:srgbClr val="555555"/>
                </a:solidFill>
              </a:rPr>
              <a:t>fungible consumable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42631" y="3913631"/>
            <a:ext cx="4105656" cy="868680"/>
          </a:xfrm>
          <a:prstGeom prst="roundRect">
            <a:avLst/>
          </a:prstGeom>
          <a:solidFill>
            <a:srgbClr val="E3F0E1"/>
          </a:solidFill>
          <a:ln w="17780">
            <a:solidFill>
              <a:srgbClr val="4F8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333333"/>
                </a:solidFill>
              </a:rPr>
              <a:t>Bioreactor capacity  b_t^n</a:t>
            </a:r>
          </a:p>
          <a:p>
            <a:pPr algn="ctr"/>
            <a:r>
              <a:rPr sz="850" i="1">
                <a:solidFill>
                  <a:srgbClr val="555555"/>
                </a:solidFill>
              </a:rPr>
              <a:t>work-in-process, relocatable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2631" y="4910327"/>
            <a:ext cx="4105656" cy="868680"/>
          </a:xfrm>
          <a:prstGeom prst="roundRect">
            <a:avLst/>
          </a:prstGeom>
          <a:solidFill>
            <a:srgbClr val="FDE6CF"/>
          </a:solidFill>
          <a:ln w="17780">
            <a:solidFill>
              <a:srgbClr val="C88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333333"/>
                </a:solidFill>
              </a:rPr>
              <a:t>Finished product  ◆</a:t>
            </a:r>
          </a:p>
          <a:p>
            <a:pPr algn="ctr"/>
            <a:r>
              <a:rPr sz="850" i="1">
                <a:solidFill>
                  <a:srgbClr val="555555"/>
                </a:solidFill>
              </a:rPr>
              <a:t>perishable, shelf life l_fin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2743200" y="886968"/>
            <a:ext cx="2377440" cy="347472"/>
          </a:xfrm>
          <a:prstGeom prst="line">
            <a:avLst/>
          </a:prstGeom>
          <a:ln w="22860">
            <a:solidFill>
              <a:srgbClr val="6A51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040880" y="886968"/>
            <a:ext cx="2377440" cy="347472"/>
          </a:xfrm>
          <a:prstGeom prst="line">
            <a:avLst/>
          </a:prstGeom>
          <a:ln w="22860">
            <a:solidFill>
              <a:srgbClr val="6A51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920240" y="658368"/>
            <a:ext cx="0" cy="576072"/>
          </a:xfrm>
          <a:prstGeom prst="line">
            <a:avLst/>
          </a:prstGeom>
          <a:ln w="22860">
            <a:solidFill>
              <a:srgbClr val="C050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41280" y="658368"/>
            <a:ext cx="0" cy="576072"/>
          </a:xfrm>
          <a:prstGeom prst="line">
            <a:avLst/>
          </a:prstGeom>
          <a:ln w="22860">
            <a:solidFill>
              <a:srgbClr val="C050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20640" y="2788920"/>
            <a:ext cx="1965960" cy="0"/>
          </a:xfrm>
          <a:prstGeom prst="line">
            <a:avLst/>
          </a:prstGeom>
          <a:ln w="31750">
            <a:solidFill>
              <a:srgbClr val="4F8F52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20640" y="3794760"/>
            <a:ext cx="1965960" cy="0"/>
          </a:xfrm>
          <a:prstGeom prst="line">
            <a:avLst/>
          </a:prstGeom>
          <a:ln w="31750">
            <a:solidFill>
              <a:srgbClr val="4F8F52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120640" y="2148839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F8F52"/>
                </a:solidFill>
              </a:rPr>
              <a:t>reagent transshipment e_t^n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3959352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F8F52"/>
                </a:solidFill>
              </a:rPr>
              <a:t>capacity relocation q_t^n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120640" y="5440680"/>
            <a:ext cx="1965960" cy="0"/>
          </a:xfrm>
          <a:prstGeom prst="line">
            <a:avLst/>
          </a:prstGeom>
          <a:ln w="22860">
            <a:solidFill>
              <a:srgbClr val="C0504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an 25"/>
          <p:cNvSpPr/>
          <p:nvPr/>
        </p:nvSpPr>
        <p:spPr>
          <a:xfrm>
            <a:off x="5975604" y="5312664"/>
            <a:ext cx="256032" cy="256032"/>
          </a:xfrm>
          <a:prstGeom prst="can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59" y="562356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504D"/>
                </a:solidFill>
              </a:rPr>
              <a:t>specimens &amp; finished product:
identity-bound (no sharing)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